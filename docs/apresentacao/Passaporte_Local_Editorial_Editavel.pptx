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Passaporte Local
Roteiro acompanha a sequência de nove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e solução
Roteiro acompanha a sequência de nove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Objetivos e navegação
Roteiro acompanha a sequência de nove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primeira abertura à próxima descoberta.
Roteiro acompanha a sequência de nove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Registro e manutenção
Roteiro acompanha a sequência de nove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coleção feita dos lugares vividos.
Roteiro acompanha a sequência de nove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Demonstração navegável
Roteiro acompanha a sequência de nove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Planejamento técnico e dados
Roteiro acompanha a sequência de nove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Progresso e próximos passos
Roteiro acompanha a sequência de nove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Créditos das fotografias
Roteiro acompanha a sequência de nove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rtur-txr.github.io/passaporte-local/" TargetMode="External"/><Relationship Id="rId2" Type="http://schemas.openxmlformats.org/officeDocument/2006/relationships/hyperlink" Target="https://artur-txr.github.io/passaporte-local/" TargetMode="External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rtur-Txr/passaporte-local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ommons.wikimedia.org/wiki/File:Museu_do_Amanha_05_2016_Rio_2083.jpg" TargetMode="External"/><Relationship Id="rId2" Type="http://schemas.openxmlformats.org/officeDocument/2006/relationships/hyperlink" Target="https://creativecommons.org/licenses/by-sa/4.0" TargetMode="External"/><Relationship Id="rId3" Type="http://schemas.openxmlformats.org/officeDocument/2006/relationships/hyperlink" Target="https://commons.wikimedia.org/wiki/File:Museu_do_Amanh%C3%A3_-_entrada_(28044443423).jpg" TargetMode="External"/><Relationship Id="rId4" Type="http://schemas.openxmlformats.org/officeDocument/2006/relationships/hyperlink" Target="https://creativecommons.org/licenses/by/2.0" TargetMode="External"/><Relationship Id="rId5" Type="http://schemas.openxmlformats.org/officeDocument/2006/relationships/hyperlink" Target="https://commons.wikimedia.org/wiki/File:Museu_do_Amanh%C3%A3_-_detalhe_(28582227661).jpg" TargetMode="External"/><Relationship Id="rId6" Type="http://schemas.openxmlformats.org/officeDocument/2006/relationships/hyperlink" Target="https://creativecommons.org/licenses/by/2.0" TargetMode="External"/><Relationship Id="rId7" Type="http://schemas.openxmlformats.org/officeDocument/2006/relationships/hyperlink" Target="https://commons.wikimedia.org/wiki/File:Mudeu_do_Amanh%C3%A3_por_dentro.jpg" TargetMode="External"/><Relationship Id="rId8" Type="http://schemas.openxmlformats.org/officeDocument/2006/relationships/hyperlink" Target="https://creativecommons.org/licenses/by-sa/4.0" TargetMode="External"/><Relationship Id="rId9" Type="http://schemas.openxmlformats.org/officeDocument/2006/relationships/hyperlink" Target="https://commons.wikimedia.org/wiki/File:Museu_do_Amanh%C3%A3_ao_anoitecer_do_Rio.jpg" TargetMode="External"/><Relationship Id="rId10" Type="http://schemas.openxmlformats.org/officeDocument/2006/relationships/hyperlink" Target="https://creativecommons.org/licenses/by-sa/4.0" TargetMode="External"/><Relationship Id="rId11" Type="http://schemas.openxmlformats.org/officeDocument/2006/relationships/hyperlink" Target="https://commons.wikimedia.org/wiki/File:Rio_de_janeiro,_confeiteria_colombo,_int._01.JPG" TargetMode="External"/><Relationship Id="rId12" Type="http://schemas.openxmlformats.org/officeDocument/2006/relationships/hyperlink" Target="https://creativecommons.org/licenses/by/3.0" TargetMode="External"/><Relationship Id="rId13" Type="http://schemas.openxmlformats.org/officeDocument/2006/relationships/hyperlink" Target="https://commons.wikimedia.org/wiki/File:Rio_de_janeiro,_confeiteria_colombo,_int._02.JPG" TargetMode="External"/><Relationship Id="rId14" Type="http://schemas.openxmlformats.org/officeDocument/2006/relationships/hyperlink" Target="https://creativecommons.org/licenses/by/3.0" TargetMode="External"/><Relationship Id="rId15" Type="http://schemas.openxmlformats.org/officeDocument/2006/relationships/hyperlink" Target="https://commons.wikimedia.org/wiki/File:Largo_do_Pelourinho_Salvador_2019-9748.jpg" TargetMode="External"/><Relationship Id="rId16" Type="http://schemas.openxmlformats.org/officeDocument/2006/relationships/hyperlink" Target="https://creativecommons.org/licenses/by-sa/4.0" TargetMode="External"/><Relationship Id="rId17" Type="http://schemas.openxmlformats.org/officeDocument/2006/relationships/hyperlink" Target="https://commons.wikimedia.org/wiki/File:Largo_do_Pelourinho_Salvador_2019-9754_(cropped).jpg" TargetMode="External"/><Relationship Id="rId18" Type="http://schemas.openxmlformats.org/officeDocument/2006/relationships/hyperlink" Target="https://creativecommons.org/licenses/by-sa/4.0" TargetMode="External"/><Relationship Id="rId19" Type="http://schemas.openxmlformats.org/officeDocument/2006/relationships/hyperlink" Target="https://commons.wikimedia.org/wiki/File:Museu_Oscar_Niemeyer_1_Curitiba_Brasil.jpg" TargetMode="External"/><Relationship Id="rId20" Type="http://schemas.openxmlformats.org/officeDocument/2006/relationships/hyperlink" Target="http://creativecommons.org/licenses/by-sa/3.0/" TargetMode="External"/><Relationship Id="rId21" Type="http://schemas.openxmlformats.org/officeDocument/2006/relationships/hyperlink" Target="https://commons.wikimedia.org/wiki/File:Museu_Oscar_Niemeyer_2_Curitiba_Brasil.jpg" TargetMode="External"/><Relationship Id="rId22" Type="http://schemas.openxmlformats.org/officeDocument/2006/relationships/hyperlink" Target="http://creativecommons.org/licenses/by-sa/3.0/" TargetMode="External"/><Relationship Id="rId23" Type="http://schemas.openxmlformats.org/officeDocument/2006/relationships/hyperlink" Target="https://commons.wikimedia.org/wiki/File:Lagoa_Azul_no_Len%C3%A7%C3%B3is_Maranhenses.jpg" TargetMode="External"/><Relationship Id="rId24" Type="http://schemas.openxmlformats.org/officeDocument/2006/relationships/hyperlink" Target="https://creativecommons.org/licenses/by-sa/3.0" TargetMode="External"/><Relationship Id="rId25" Type="http://schemas.openxmlformats.org/officeDocument/2006/relationships/hyperlink" Target="https://commons.wikimedia.org/wiki/File:Len%C3%A7%C3%B3is_Maranhenses_2018.jpg" TargetMode="External"/><Relationship Id="rId26" Type="http://schemas.openxmlformats.org/officeDocument/2006/relationships/hyperlink" Target="https://creativecommons.org/licenses/by-sa/4.0" TargetMode="External"/><Relationship Id="rId27" Type="http://schemas.openxmlformats.org/officeDocument/2006/relationships/hyperlink" Target="https://commons.wikimedia.org/wiki/File:CachoeiraSantaB%C3%A1rbara.jpg" TargetMode="External"/><Relationship Id="rId28" Type="http://schemas.openxmlformats.org/officeDocument/2006/relationships/hyperlink" Target="https://creativecommons.org/licenses/by-sa/4.0" TargetMode="External"/><Relationship Id="rId29" Type="http://schemas.openxmlformats.org/officeDocument/2006/relationships/hyperlink" Target="https://commons.wikimedia.org/wiki/File:Cachoeira_de_Santa_B%C3%A1rbara,_Chapada_dos_Veadeiros,_Goi%C3%A1s,_Brasil.JPG" TargetMode="External"/><Relationship Id="rId30" Type="http://schemas.openxmlformats.org/officeDocument/2006/relationships/hyperlink" Target="https://creativecommons.org/licenses/by-sa/4.0" TargetMode="External"/><Relationship Id="rId31" Type="http://schemas.openxmlformats.org/officeDocument/2006/relationships/hyperlink" Target="https://commons.wikimedia.org/wiki/File:Nascer_do_sol_na_Pedra_Bonita.jpg" TargetMode="External"/><Relationship Id="rId32" Type="http://schemas.openxmlformats.org/officeDocument/2006/relationships/hyperlink" Target="https://creativecommons.org/licenses/by-sa/3.0" TargetMode="External"/><Relationship Id="rId33" Type="http://schemas.openxmlformats.org/officeDocument/2006/relationships/hyperlink" Target="https://commons.wikimedia.org/wiki/File:Vista_da_Pedra_Bonita_(2022-12-11)_01.jpg" TargetMode="External"/><Relationship Id="rId34" Type="http://schemas.openxmlformats.org/officeDocument/2006/relationships/hyperlink" Target="https://creativecommons.org/licenses/by-sa/4.0" TargetMode="External"/><Relationship Id="rId35" Type="http://schemas.openxmlformats.org/officeDocument/2006/relationships/hyperlink" Target="https://commons.wikimedia.org/wiki/File:Cataratas_do_Igua%C3%A7u.jpg" TargetMode="External"/><Relationship Id="rId36" Type="http://schemas.openxmlformats.org/officeDocument/2006/relationships/hyperlink" Target="https://creativecommons.org/licenses/by-sa/3.0" TargetMode="External"/><Relationship Id="rId37" Type="http://schemas.openxmlformats.org/officeDocument/2006/relationships/hyperlink" Target="https://commons.wikimedia.org/wiki/File:Cataratas_do_Igua%C3%A7u_-_Vista_de_cima_alt.jpg" TargetMode="External"/><Relationship Id="rId38" Type="http://schemas.openxmlformats.org/officeDocument/2006/relationships/hyperlink" Target="https://creativecommons.org/licenses/by-sa/4.0" TargetMode="External"/><Relationship Id="rId39" Type="http://schemas.openxmlformats.org/officeDocument/2006/relationships/hyperlink" Target="https://commons.wikimedia.org/wiki/File:Praia_do_Sancho_Noronha.JPG" TargetMode="External"/><Relationship Id="rId40" Type="http://schemas.openxmlformats.org/officeDocument/2006/relationships/hyperlink" Target="https://creativecommons.org/licenses/by-sa/3.0" TargetMode="External"/><Relationship Id="rId41" Type="http://schemas.openxmlformats.org/officeDocument/2006/relationships/hyperlink" Target="https://commons.wikimedia.org/wiki/File:A_praia_do_Sancho_vista_do_Alto.jpg" TargetMode="External"/><Relationship Id="rId42" Type="http://schemas.openxmlformats.org/officeDocument/2006/relationships/hyperlink" Target="https://creativecommons.org/licenses/by-sa/4.0" TargetMode="External"/><Relationship Id="rId43" Type="http://schemas.openxmlformats.org/officeDocument/2006/relationships/hyperlink" Target="https://commons.wikimedia.org/wiki/File:Imagem_do_lago_do_Parque_Ibirapuera.jpg" TargetMode="External"/><Relationship Id="rId44" Type="http://schemas.openxmlformats.org/officeDocument/2006/relationships/hyperlink" Target="https://creativecommons.org/licenses/by-sa/4.0" TargetMode="External"/><Relationship Id="rId45" Type="http://schemas.openxmlformats.org/officeDocument/2006/relationships/hyperlink" Target="https://commons.wikimedia.org/wiki/File:Parque_do_Ibirapuera_S%C3%A3o_Paulo_Lago_2019-6300.jpg" TargetMode="External"/><Relationship Id="rId46" Type="http://schemas.openxmlformats.org/officeDocument/2006/relationships/hyperlink" Target="https://creativecommons.org/licenses/by-sa/4.0" TargetMode="External"/><Relationship Id="rId47" Type="http://schemas.openxmlformats.org/officeDocument/2006/relationships/hyperlink" Target="https://commons.wikimedia.org/wiki/File:Amazon_Theatre,_Teatro_Amazonas._Manaus,_Brazil._05.jpg" TargetMode="External"/><Relationship Id="rId48" Type="http://schemas.openxmlformats.org/officeDocument/2006/relationships/hyperlink" Target="http://creativecommons.org/publicdomain/zero/1.0/deed.en" TargetMode="External"/><Relationship Id="rId49" Type="http://schemas.openxmlformats.org/officeDocument/2006/relationships/hyperlink" Target="https://commons.wikimedia.org/wiki/File:Interior_of_Teatro_Amazonas,_Manaus,_Brazil_01.jpg" TargetMode="External"/><Relationship Id="rId50" Type="http://schemas.openxmlformats.org/officeDocument/2006/relationships/hyperlink" Target="http://creativecommons.org/publicdomain/zero/1.0/deed.en" TargetMode="External"/><Relationship Id="rId51" Type="http://schemas.openxmlformats.org/officeDocument/2006/relationships/hyperlink" Target="https://commons.wikimedia.org/wiki/File:Caf%C3%A9_Girondino,_em_S%C3%A3o_Paulo_(28897471300).jpg" TargetMode="External"/><Relationship Id="rId52" Type="http://schemas.openxmlformats.org/officeDocument/2006/relationships/hyperlink" Target="https://creativecommons.org/licenses/by/2.0" TargetMode="External"/><Relationship Id="rId53" Type="http://schemas.openxmlformats.org/officeDocument/2006/relationships/hyperlink" Target="https://commons.wikimedia.org/wiki/File:Edif%C3%ADcio_Copan_(3407152287).jpg" TargetMode="External"/><Relationship Id="rId54" Type="http://schemas.openxmlformats.org/officeDocument/2006/relationships/hyperlink" Target="https://creativecommons.org/licenses/by/2.0" TargetMode="External"/><Relationship Id="rId55" Type="http://schemas.openxmlformats.org/officeDocument/2006/relationships/slideLayout" Target="../slideLayouts/slideLayout1.xml"/><Relationship Id="rId5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59250" cy="6858000"/>
          </a:xfrm>
          <a:prstGeom prst="rect">
            <a:avLst/>
          </a:prstGeom>
          <a:solidFill>
            <a:srgbClr val="123B4A"/>
          </a:solidFill>
          <a:ln w="12700">
            <a:solidFill>
              <a:srgbClr val="123B4A">
                <a:alpha val="0"/>
              </a:srgbClr>
            </a:solidFill>
            <a:prstDash val="solid"/>
          </a:ln>
        </p:spPr>
      </p:sp>
      <p:pic>
        <p:nvPicPr>
          <p:cNvPr id="3" name="Image 0" descr="C:\Users\Artur\Documents\Codex\2026-10-09\est\output\Passaporte_Local_Editorial\assets\img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800" y="419100"/>
            <a:ext cx="1270000" cy="152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09800"/>
            <a:ext cx="358775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Passaporte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Local</a:t>
            </a:r>
            <a:endParaRPr lang="en-US" sz="4300" dirty="0"/>
          </a:p>
        </p:txBody>
      </p:sp>
      <p:sp>
        <p:nvSpPr>
          <p:cNvPr id="5" name="Shape 2"/>
          <p:cNvSpPr/>
          <p:nvPr/>
        </p:nvSpPr>
        <p:spPr>
          <a:xfrm>
            <a:off x="482600" y="3892550"/>
            <a:ext cx="495300" cy="50800"/>
          </a:xfrm>
          <a:prstGeom prst="rect">
            <a:avLst/>
          </a:prstGeom>
          <a:solidFill>
            <a:srgbClr val="E87961"/>
          </a:solidFill>
          <a:ln w="12700">
            <a:solidFill>
              <a:srgbClr val="E87961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69900" y="4248150"/>
            <a:ext cx="346075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Cada lugar, uma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história para guardar.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482600" y="5518150"/>
            <a:ext cx="342900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Um diário digital de passeios,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descobertas e memórias pelo Brasil.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21384000">
            <a:off x="4826000" y="457200"/>
            <a:ext cx="6159500" cy="3594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123B4A">
                <a:alpha val="12000"/>
              </a:srgbClr>
            </a:outerShdw>
          </a:effectLst>
        </p:spPr>
      </p:sp>
      <p:pic>
        <p:nvPicPr>
          <p:cNvPr id="9" name="Image 1" descr="C:\Users\Artur\Documents\Codex\2026-10-09\est\output\Passaporte_Local_Editorial\assets\img-1-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84000">
            <a:off x="4905530" y="546394"/>
            <a:ext cx="5981700" cy="31178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 rot="21384000">
            <a:off x="5053240" y="3735802"/>
            <a:ext cx="59436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CATARATAS DO IGUAÇU · PARANÁ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 rot="21336000">
            <a:off x="4622800" y="4318000"/>
            <a:ext cx="4032250" cy="214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123B4A">
                <a:alpha val="12000"/>
              </a:srgbClr>
            </a:outerShdw>
          </a:effectLst>
        </p:spPr>
      </p:sp>
      <p:pic>
        <p:nvPicPr>
          <p:cNvPr id="12" name="Image 2" descr="C:\Users\Artur\Documents\Codex\2026-10-09\est\output\Passaporte_Local_Editorial\assets\img-1-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36000">
            <a:off x="4700252" y="4407340"/>
            <a:ext cx="3854450" cy="16700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 rot="21336000">
            <a:off x="4816729" y="6149115"/>
            <a:ext cx="38163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LENÇÓIS MARANHENSES · MARANHÃO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 rot="288000">
            <a:off x="8001000" y="3556000"/>
            <a:ext cx="3810000" cy="288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123B4A">
                <a:alpha val="12000"/>
              </a:srgbClr>
            </a:outerShdw>
          </a:effectLst>
        </p:spPr>
      </p:sp>
      <p:pic>
        <p:nvPicPr>
          <p:cNvPr id="15" name="Image 3" descr="C:\Users\Artur\Documents\Codex\2026-10-09\est\output\Passaporte_Local_Editorial\assets\img-1-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88000">
            <a:off x="8102387" y="3645423"/>
            <a:ext cx="3632200" cy="24066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 rot="288000">
            <a:off x="8024053" y="6124990"/>
            <a:ext cx="35941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BAÍA DO SANCHO · PERNAMBUCO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6100" y="469900"/>
            <a:ext cx="412750" cy="38100"/>
          </a:xfrm>
          <a:prstGeom prst="rect">
            <a:avLst/>
          </a:prstGeom>
          <a:solidFill>
            <a:srgbClr val="E87961"/>
          </a:solidFill>
          <a:ln w="12700">
            <a:solidFill>
              <a:srgbClr val="E879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6100" y="711200"/>
            <a:ext cx="11080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 fotos ficam. Os detalhes se perdem.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71500" y="1384300"/>
            <a:ext cx="10795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Um diário pessoal dá contexto às imagens e ajuda a reencontrar cada experiência.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44250" y="6515100"/>
            <a:ext cx="63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/ 09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71500" y="2222500"/>
            <a:ext cx="4762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problema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71500" y="2667000"/>
            <a:ext cx="4667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Fotos dispersas na galeria.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Datas e lembranças sem contexto.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71500" y="3651250"/>
            <a:ext cx="4286250" cy="12700"/>
          </a:xfrm>
          <a:prstGeom prst="line">
            <a:avLst/>
          </a:prstGeom>
          <a:noFill/>
          <a:ln w="12700">
            <a:solidFill>
              <a:srgbClr val="D8E1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" y="3987800"/>
            <a:ext cx="44450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proposta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71500" y="4419600"/>
            <a:ext cx="4572000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Reunir lugar, fotos e memória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 uma visita fácil de consultar.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71500" y="5784850"/>
            <a:ext cx="5270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Para quem gosta de passeios e viagens,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inclusive dentro da própria cidade.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rot="21420000">
            <a:off x="6731000" y="2114550"/>
            <a:ext cx="4254500" cy="2571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123B4A">
                <a:alpha val="12000"/>
              </a:srgbClr>
            </a:outerShdw>
          </a:effectLst>
        </p:spPr>
      </p:sp>
      <p:pic>
        <p:nvPicPr>
          <p:cNvPr id="13" name="Image 0" descr="C:\Users\Artur\Documents\Codex\2026-10-09\est\output\Passaporte_Local_Editorial\assets\img-2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420000">
            <a:off x="6812090" y="2203655"/>
            <a:ext cx="4076700" cy="20955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 rot="21420000">
            <a:off x="6914803" y="4372665"/>
            <a:ext cx="40386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CONFEITARIA COLOMBO · RIO DE JANEIRO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 rot="168000">
            <a:off x="7842250" y="4921250"/>
            <a:ext cx="3524250" cy="146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123B4A">
                <a:alpha val="12000"/>
              </a:srgbClr>
            </a:outerShdw>
          </a:effectLst>
        </p:spPr>
      </p:sp>
      <p:pic>
        <p:nvPicPr>
          <p:cNvPr id="16" name="Image 1" descr="C:\Users\Artur\Documents\Codex\2026-10-09\est\output\Passaporte_Local_Editorial\assets\img-2-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8000">
            <a:off x="7938440" y="5010328"/>
            <a:ext cx="3346450" cy="9842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 rot="168000">
            <a:off x="7943326" y="6070898"/>
            <a:ext cx="33083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PELOURINHO · SALVADOR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6100" y="469900"/>
            <a:ext cx="412750" cy="38100"/>
          </a:xfrm>
          <a:prstGeom prst="rect">
            <a:avLst/>
          </a:prstGeom>
          <a:solidFill>
            <a:srgbClr val="E87961"/>
          </a:solidFill>
          <a:ln w="12700">
            <a:solidFill>
              <a:srgbClr val="E879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6100" y="711200"/>
            <a:ext cx="11080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Um histórico pessoal, fácil de manter.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71500" y="1384300"/>
            <a:ext cx="10795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Objetivo: facilitar o registro, a consulta e a atualização das visitas.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44250" y="6515100"/>
            <a:ext cx="63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/ 09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71500" y="22225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Acesso à conta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2686050"/>
            <a:ext cx="3238500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Cadastro e login.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Acesso simulado no protótipo.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1500" y="39370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CRUD de visitas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" y="4413250"/>
            <a:ext cx="3365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Criar um registro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Consultar, buscar e filtrar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Editar informações e fotos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Excluir com confirmação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762500" y="2159000"/>
            <a:ext cx="6667500" cy="539750"/>
          </a:xfrm>
          <a:prstGeom prst="rect">
            <a:avLst/>
          </a:prstGeom>
          <a:solidFill>
            <a:srgbClr val="E7EEF1"/>
          </a:solidFill>
          <a:ln w="12700">
            <a:solidFill>
              <a:srgbClr val="E7EEF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02200" y="2279650"/>
            <a:ext cx="63881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Boas-vindas  →  Login / Cadastro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62500" y="3130550"/>
            <a:ext cx="6667500" cy="539750"/>
          </a:xfrm>
          <a:prstGeom prst="rect">
            <a:avLst/>
          </a:prstGeom>
          <a:solidFill>
            <a:srgbClr val="E7EEF1"/>
          </a:solidFill>
          <a:ln w="12700">
            <a:solidFill>
              <a:srgbClr val="E7EE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2200" y="3251200"/>
            <a:ext cx="63881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Início · resumo e registro de visita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62500" y="4222750"/>
            <a:ext cx="3111500" cy="609600"/>
          </a:xfrm>
          <a:prstGeom prst="rect">
            <a:avLst/>
          </a:prstGeom>
          <a:solidFill>
            <a:srgbClr val="E7EEF1"/>
          </a:solidFill>
          <a:ln w="12700">
            <a:solidFill>
              <a:srgbClr val="E7EEF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02200" y="4343400"/>
            <a:ext cx="28321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Visitas · busca e filtros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18500" y="4222750"/>
            <a:ext cx="3111500" cy="609600"/>
          </a:xfrm>
          <a:prstGeom prst="rect">
            <a:avLst/>
          </a:prstGeom>
          <a:solidFill>
            <a:srgbClr val="E7EEF1"/>
          </a:solidFill>
          <a:ln w="12700">
            <a:solidFill>
              <a:srgbClr val="E7EEF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4343400"/>
            <a:ext cx="28321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Perfil · identificação e cidades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62500" y="5492750"/>
            <a:ext cx="3111500" cy="673100"/>
          </a:xfrm>
          <a:prstGeom prst="rect">
            <a:avLst/>
          </a:prstGeom>
          <a:solidFill>
            <a:srgbClr val="E7EEF1"/>
          </a:solidFill>
          <a:ln w="12700">
            <a:solidFill>
              <a:srgbClr val="E7EEF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02200" y="5613400"/>
            <a:ext cx="2832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Detalhes e álbum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Editar ou excluir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18500" y="5492750"/>
            <a:ext cx="3111500" cy="673100"/>
          </a:xfrm>
          <a:prstGeom prst="rect">
            <a:avLst/>
          </a:prstGeom>
          <a:solidFill>
            <a:srgbClr val="E7EEF1"/>
          </a:solidFill>
          <a:ln w="12700">
            <a:solidFill>
              <a:srgbClr val="E7EEF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5613400"/>
            <a:ext cx="2832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Carimbos e cidade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Editar perfil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96250" y="2698750"/>
            <a:ext cx="12700" cy="431800"/>
          </a:xfrm>
          <a:prstGeom prst="line">
            <a:avLst/>
          </a:prstGeom>
          <a:noFill/>
          <a:ln w="12700">
            <a:solidFill>
              <a:srgbClr val="A9BC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86500" y="4832350"/>
            <a:ext cx="12700" cy="660400"/>
          </a:xfrm>
          <a:prstGeom prst="line">
            <a:avLst/>
          </a:prstGeom>
          <a:noFill/>
          <a:ln w="12700">
            <a:solidFill>
              <a:srgbClr val="A9BC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74250" y="4832350"/>
            <a:ext cx="12700" cy="660400"/>
          </a:xfrm>
          <a:prstGeom prst="line">
            <a:avLst/>
          </a:prstGeom>
          <a:noFill/>
          <a:ln w="12700">
            <a:solidFill>
              <a:srgbClr val="A9BC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62500" y="6223000"/>
            <a:ext cx="698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Navegação inferior: Início, Visitas e Perfil.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6100" y="469900"/>
            <a:ext cx="412750" cy="38100"/>
          </a:xfrm>
          <a:prstGeom prst="rect">
            <a:avLst/>
          </a:prstGeom>
          <a:solidFill>
            <a:srgbClr val="E87961"/>
          </a:solidFill>
          <a:ln w="12700">
            <a:solidFill>
              <a:srgbClr val="E879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6100" y="711200"/>
            <a:ext cx="11080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 primeira abertura à próxima descoberta.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71500" y="1384300"/>
            <a:ext cx="10795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Entrada e consulta com busca, filtros e resumo da coleção.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44250" y="6515100"/>
            <a:ext cx="63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/ 09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71500" y="2222500"/>
            <a:ext cx="298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Boas-vindas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71500" y="260985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Apresenta o diário e os caminhos de acesso.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71500" y="3619500"/>
            <a:ext cx="298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Início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71500" y="400685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Resumo da coleção e últimos registros.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71500" y="5016500"/>
            <a:ext cx="298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Consulta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71500" y="540385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Busca por lugar e filtros por cidade e categoria.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064000" y="1841500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Boas-vindas</a:t>
            </a:r>
            <a:endParaRPr lang="en-US" sz="1300" dirty="0"/>
          </a:p>
        </p:txBody>
      </p:sp>
      <p:pic>
        <p:nvPicPr>
          <p:cNvPr id="13" name="Image 0" descr="C:\Users\Artur\Documents\Codex\2026-10-09\est\output\Passaporte_Local_Editorial\assets\img-4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2171700"/>
            <a:ext cx="1968500" cy="42608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667500" y="1841500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Meu passaporte</a:t>
            </a:r>
            <a:endParaRPr lang="en-US" sz="1300" dirty="0"/>
          </a:p>
        </p:txBody>
      </p:sp>
      <p:pic>
        <p:nvPicPr>
          <p:cNvPr id="15" name="Image 1" descr="C:\Users\Artur\Documents\Codex\2026-10-09\est\output\Passaporte_Local_Editorial\assets\img-4-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2171700"/>
            <a:ext cx="1968500" cy="42608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271000" y="1841500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Minhas visitas</a:t>
            </a:r>
            <a:endParaRPr lang="en-US" sz="1300" dirty="0"/>
          </a:p>
        </p:txBody>
      </p:sp>
      <p:pic>
        <p:nvPicPr>
          <p:cNvPr id="17" name="Image 2" descr="C:\Users\Artur\Documents\Codex\2026-10-09\est\output\Passaporte_Local_Editorial\assets\img-4-1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2171700"/>
            <a:ext cx="1968500" cy="426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6100" y="469900"/>
            <a:ext cx="412750" cy="38100"/>
          </a:xfrm>
          <a:prstGeom prst="rect">
            <a:avLst/>
          </a:prstGeom>
          <a:solidFill>
            <a:srgbClr val="E87961"/>
          </a:solidFill>
          <a:ln w="12700">
            <a:solidFill>
              <a:srgbClr val="E879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6100" y="711200"/>
            <a:ext cx="11080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Registrar, rever e atualizar.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71500" y="1384300"/>
            <a:ext cx="10795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Dados essenciais, fotos opcionais e exclusão com confirmação.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44250" y="6515100"/>
            <a:ext cx="63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 / 09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71500" y="2235200"/>
            <a:ext cx="2921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Obrigatórios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2628900"/>
            <a:ext cx="279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Lugar, cidade, UF,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categoria e data.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1500" y="3365500"/>
            <a:ext cx="2921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Opcionais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3759200"/>
            <a:ext cx="279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Até cinco fotos, avaliação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 comentário. Uma foto é a capa.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71500" y="4533900"/>
            <a:ext cx="292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Excluir com confirmação</a:t>
            </a:r>
            <a:endParaRPr lang="en-US" sz="1350" dirty="0"/>
          </a:p>
        </p:txBody>
      </p:sp>
      <p:pic>
        <p:nvPicPr>
          <p:cNvPr id="11" name="Image 0" descr="C:\Users\Artur\Documents\Codex\2026-10-09\est\output\Passaporte_Local_Editorial\assets\img-5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4876800"/>
            <a:ext cx="2857500" cy="15875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064000" y="1841500"/>
            <a:ext cx="215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Nova visita</a:t>
            </a:r>
            <a:endParaRPr lang="en-US" sz="1300" dirty="0"/>
          </a:p>
        </p:txBody>
      </p:sp>
      <p:pic>
        <p:nvPicPr>
          <p:cNvPr id="13" name="Image 1" descr="C:\Users\Artur\Documents\Codex\2026-10-09\est\output\Passaporte_Local_Editorial\assets\img-5-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2171700"/>
            <a:ext cx="1968500" cy="42608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67500" y="1841500"/>
            <a:ext cx="215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Detalhes e galeria</a:t>
            </a:r>
            <a:endParaRPr lang="en-US" sz="1300" dirty="0"/>
          </a:p>
        </p:txBody>
      </p:sp>
      <p:pic>
        <p:nvPicPr>
          <p:cNvPr id="15" name="Image 2" descr="C:\Users\Artur\Documents\Codex\2026-10-09\est\output\Passaporte_Local_Editorial\assets\img-5-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171700"/>
            <a:ext cx="1968500" cy="42608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71000" y="1841500"/>
            <a:ext cx="215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Editar visita</a:t>
            </a:r>
            <a:endParaRPr lang="en-US" sz="1300" dirty="0"/>
          </a:p>
        </p:txBody>
      </p:sp>
      <p:pic>
        <p:nvPicPr>
          <p:cNvPr id="17" name="Image 3" descr="C:\Users\Artur\Documents\Codex\2026-10-09\est\output\Passaporte_Local_Editorial\assets\img-5-1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0" y="2171700"/>
            <a:ext cx="1968500" cy="426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7F0"/>
          </a:solidFill>
          <a:ln w="12700">
            <a:solidFill>
              <a:srgbClr val="FAF7F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100" y="469900"/>
            <a:ext cx="412750" cy="38100"/>
          </a:xfrm>
          <a:prstGeom prst="rect">
            <a:avLst/>
          </a:prstGeom>
          <a:solidFill>
            <a:srgbClr val="E87961"/>
          </a:solidFill>
          <a:ln w="12700">
            <a:solidFill>
              <a:srgbClr val="E8796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6100" y="711200"/>
            <a:ext cx="11080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Uma coleção feita dos lugares vividos.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71500" y="1384300"/>
            <a:ext cx="10795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 visitas alimentam os carimbos, os contadores e o agrupamento por cidade.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44250" y="6515100"/>
            <a:ext cx="63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 / 09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71500" y="5588000"/>
            <a:ext cx="698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71500" y="6153150"/>
            <a:ext cx="698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visitas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778000" y="5588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778000" y="6153150"/>
            <a:ext cx="76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cidades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71500" y="2222500"/>
            <a:ext cx="298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Carimbos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71500" y="260985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Cada visita vira parte da coleção.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71500" y="3333750"/>
            <a:ext cx="298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Cidades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71500" y="37211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Os registros se agrupam pela localização.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71500" y="4445000"/>
            <a:ext cx="298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Perfil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71500" y="483235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Identificação, cidades e edição dos dados.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064000" y="1841500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Carimbos</a:t>
            </a:r>
            <a:endParaRPr lang="en-US" sz="1300" dirty="0"/>
          </a:p>
        </p:txBody>
      </p:sp>
      <p:pic>
        <p:nvPicPr>
          <p:cNvPr id="18" name="Image 0" descr="C:\Users\Artur\Documents\Codex\2026-10-09\est\output\Passaporte_Local_Editorial\assets\img-6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2171700"/>
            <a:ext cx="1968500" cy="426085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667500" y="1841500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Cidades</a:t>
            </a:r>
            <a:endParaRPr lang="en-US" sz="1300" dirty="0"/>
          </a:p>
        </p:txBody>
      </p:sp>
      <p:pic>
        <p:nvPicPr>
          <p:cNvPr id="20" name="Image 1" descr="C:\Users\Artur\Documents\Codex\2026-10-09\est\output\Passaporte_Local_Editorial\assets\img-6-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2171700"/>
            <a:ext cx="1968500" cy="426085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271000" y="1841500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Perfil</a:t>
            </a:r>
            <a:endParaRPr lang="en-US" sz="1300" dirty="0"/>
          </a:p>
        </p:txBody>
      </p:sp>
      <p:pic>
        <p:nvPicPr>
          <p:cNvPr id="22" name="Image 2" descr="C:\Users\Artur\Documents\Codex\2026-10-09\est\output\Passaporte_Local_Editorial\assets\img-6-2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2171700"/>
            <a:ext cx="1968500" cy="426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6100" y="469900"/>
            <a:ext cx="412750" cy="38100"/>
          </a:xfrm>
          <a:prstGeom prst="rect">
            <a:avLst/>
          </a:prstGeom>
          <a:solidFill>
            <a:srgbClr val="E87961"/>
          </a:solidFill>
          <a:ln w="12700">
            <a:solidFill>
              <a:srgbClr val="E879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6100" y="711200"/>
            <a:ext cx="11080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diário, pronto para explorar.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71500" y="1384300"/>
            <a:ext cx="10795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Percurso de demonstração · 60 a 90 segundos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44250" y="6515100"/>
            <a:ext cx="63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 / 09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71500" y="2286000"/>
            <a:ext cx="6413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Consultar uma visita e sua galeria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Criar “Visita de teste”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Editar o registro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Excluir com confirmação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Rever os carimbos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71500" y="4813300"/>
            <a:ext cx="6413500" cy="635000"/>
          </a:xfrm>
          <a:prstGeom prst="rect">
            <a:avLst/>
          </a:prstGeom>
          <a:solidFill>
            <a:srgbClr val="123B4A"/>
          </a:solidFill>
          <a:ln w="12700">
            <a:solidFill>
              <a:srgbClr val="123B4A">
                <a:alpha val="0"/>
              </a:srgbClr>
            </a:solidFill>
            <a:prstDash val="solid"/>
          </a:ln>
        </p:spPr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762000" y="4978400"/>
            <a:ext cx="603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750" b="1" u="sng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protótipo navegável  ↗</a:t>
            </a:r>
            <a:endParaRPr lang="en-US" sz="1750" dirty="0"/>
          </a:p>
        </p:txBody>
      </p:sp>
      <p:sp>
        <p:nvSpPr>
          <p:cNvPr id="9" name="Text 7">
            <a:hlinkClick r:id="rId2" tooltip=""/>
          </p:cNvPr>
          <p:cNvSpPr/>
          <p:nvPr/>
        </p:nvSpPr>
        <p:spPr>
          <a:xfrm>
            <a:off x="584200" y="5676900"/>
            <a:ext cx="70485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0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https://artur-txr.github.io/passaporte-local/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4200" y="6140450"/>
            <a:ext cx="762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Protótipo demonstrativo com dados locais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 autenticação simulada.</a:t>
            </a:r>
            <a:endParaRPr lang="en-US" sz="1200" dirty="0"/>
          </a:p>
        </p:txBody>
      </p:sp>
      <p:pic>
        <p:nvPicPr>
          <p:cNvPr id="11" name="Image 0" descr="C:\Users\Artur\Documents\Codex\2026-10-09\est\output\Passaporte_Local_Editorial\assets\img-7-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2254250"/>
            <a:ext cx="2730500" cy="27305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96250" y="5200650"/>
            <a:ext cx="317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Aponte a câmera do celular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096250" y="5632450"/>
            <a:ext cx="317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 use o botão ao lado.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Requer conexão com a internet.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6100" y="469900"/>
            <a:ext cx="412750" cy="38100"/>
          </a:xfrm>
          <a:prstGeom prst="rect">
            <a:avLst/>
          </a:prstGeom>
          <a:solidFill>
            <a:srgbClr val="E87961"/>
          </a:solidFill>
          <a:ln w="12700">
            <a:solidFill>
              <a:srgbClr val="E879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6100" y="711200"/>
            <a:ext cx="11080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Como o projeto está organizado.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71500" y="1384300"/>
            <a:ext cx="10795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Tecnologia demonstrada e arquitetura proposta para o aplicativo final.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44250" y="6515100"/>
            <a:ext cx="63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 / 09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71500" y="2159000"/>
            <a:ext cx="49530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Hoje · protótipo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266065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HTML, CSS e JavaScript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Persistência local em IndexedDB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Acesso simulado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540500" y="2159000"/>
            <a:ext cx="5143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Planejado · aplicativo mobile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40500" y="2660650"/>
            <a:ext cx="5143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React Native, Expo, TypeScript e Expo Router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Supabase previsto: Auth, PostgreSQL e Storage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Integrações ainda sujeitas à implementação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71500" y="3956050"/>
            <a:ext cx="11049000" cy="12700"/>
          </a:xfrm>
          <a:prstGeom prst="line">
            <a:avLst/>
          </a:prstGeom>
          <a:noFill/>
          <a:ln w="12700">
            <a:solidFill>
              <a:srgbClr val="D8E1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" y="4318000"/>
            <a:ext cx="279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PERFIL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478155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 (PK / usuário)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nome, e-mail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criado_em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08500" y="4318000"/>
            <a:ext cx="298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VISITA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08500" y="4781550"/>
            <a:ext cx="2984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 (PK), perfil_id (FK)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lugar, cidade, UF, categoria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data, avaliação, comentário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26500" y="4318000"/>
            <a:ext cx="279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FOTOGRAFIA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26500" y="478155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 (PK), visita_id (FK)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caminho_arquivo, ordem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é_capa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87750" y="49911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: 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83500" y="4991100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: 0..5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1500" y="6115050"/>
            <a:ext cx="1079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Modelo conceitual proposto: ordem única e uma capa por álbum. Acesso privado por usuário no backend final.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6100" y="469900"/>
            <a:ext cx="412750" cy="38100"/>
          </a:xfrm>
          <a:prstGeom prst="rect">
            <a:avLst/>
          </a:prstGeom>
          <a:solidFill>
            <a:srgbClr val="E87961"/>
          </a:solidFill>
          <a:ln w="12700">
            <a:solidFill>
              <a:srgbClr val="E879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6100" y="711200"/>
            <a:ext cx="11080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 proposta ao aplicativo mobile.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71500" y="1384300"/>
            <a:ext cx="10795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Próximos passos com foco em um escopo possível de concluir.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44250" y="6515100"/>
            <a:ext cx="63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 / 09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71500" y="2222500"/>
            <a:ext cx="5524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Já demonstrado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2711450"/>
            <a:ext cx="5842000" cy="1174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 telas e estados de interface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CRUD, busca, filtros e álbuns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Carimbos, cidades e edição do perfil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71500" y="4279900"/>
            <a:ext cx="6032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Prioridades seguintes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" y="47625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   Implementar a versão React Native / Expo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  Integrar autenticação e backend reais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  Validar teclado, fotos e persistência em celular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 rot="180000">
            <a:off x="8572500" y="2114550"/>
            <a:ext cx="2952750" cy="28892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123B4A">
                <a:alpha val="12000"/>
              </a:srgbClr>
            </a:outerShdw>
          </a:effectLst>
        </p:spPr>
      </p:sp>
      <p:pic>
        <p:nvPicPr>
          <p:cNvPr id="11" name="Image 0" descr="C:\Users\Artur\Documents\Codex\2026-10-09\est\output\Passaporte_Local_Editorial\assets\img-9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80000">
            <a:off x="8669210" y="2203655"/>
            <a:ext cx="2774950" cy="2413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 rot="180000">
            <a:off x="8634337" y="4691941"/>
            <a:ext cx="27368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PEDRA BONITA · RIO DE JANEIRO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71500" y="6134100"/>
            <a:ext cx="920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Artur · UniRios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Sistemas de Informação · Desenvolvimento Mobile · Fase 1</a:t>
            </a:r>
            <a:endParaRPr lang="en-US" sz="1150" dirty="0"/>
          </a:p>
        </p:txBody>
      </p:sp>
      <p:sp>
        <p:nvSpPr>
          <p:cNvPr id="14" name="Text 11">
            <a:hlinkClick r:id="rId2" tooltip=""/>
          </p:cNvPr>
          <p:cNvSpPr/>
          <p:nvPr/>
        </p:nvSpPr>
        <p:spPr>
          <a:xfrm>
            <a:off x="8382000" y="5397500"/>
            <a:ext cx="3238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Repositório do projeto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382000" y="5784850"/>
            <a:ext cx="327025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github.com/Artur-Txr/passaporte-local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Datas anteriores: propostas a confirmar.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6100" y="469900"/>
            <a:ext cx="412750" cy="38100"/>
          </a:xfrm>
          <a:prstGeom prst="rect">
            <a:avLst/>
          </a:prstGeom>
          <a:solidFill>
            <a:srgbClr val="E87961"/>
          </a:solidFill>
          <a:ln w="12700">
            <a:solidFill>
              <a:srgbClr val="E879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6100" y="711200"/>
            <a:ext cx="110807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Fotografias e fontes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71500" y="1308100"/>
            <a:ext cx="110490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Acervo real do protótipo e fotografias editoriais. Recortes e inclinações representam montagem de apresentação.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1500" y="19050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museu-amanha.jpg · Mariordo (Mario Roberto Durán Ortiz)</a:t>
            </a:r>
            <a:endParaRPr lang="en-US" sz="100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571500" y="20764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BY-SA 4.0</a:t>
            </a:r>
            <a:endParaRPr lang="en-US" sz="850" dirty="0"/>
          </a:p>
        </p:txBody>
      </p:sp>
      <p:sp>
        <p:nvSpPr>
          <p:cNvPr id="7" name="Text 5">
            <a:hlinkClick r:id="rId2" tooltip=""/>
          </p:cNvPr>
          <p:cNvSpPr/>
          <p:nvPr/>
        </p:nvSpPr>
        <p:spPr>
          <a:xfrm>
            <a:off x="5080000" y="20764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71500" y="22225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amanha-2.jpg · Leandro Neumann Ciuffo</a:t>
            </a:r>
            <a:endParaRPr lang="en-US" sz="1000" dirty="0"/>
          </a:p>
        </p:txBody>
      </p:sp>
      <p:sp>
        <p:nvSpPr>
          <p:cNvPr id="9" name="Text 7">
            <a:hlinkClick r:id="rId3" tooltip=""/>
          </p:cNvPr>
          <p:cNvSpPr/>
          <p:nvPr/>
        </p:nvSpPr>
        <p:spPr>
          <a:xfrm>
            <a:off x="571500" y="23939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 2.0</a:t>
            </a:r>
            <a:endParaRPr lang="en-US" sz="850" dirty="0"/>
          </a:p>
        </p:txBody>
      </p:sp>
      <p:sp>
        <p:nvSpPr>
          <p:cNvPr id="10" name="Text 8">
            <a:hlinkClick r:id="rId4" tooltip=""/>
          </p:cNvPr>
          <p:cNvSpPr/>
          <p:nvPr/>
        </p:nvSpPr>
        <p:spPr>
          <a:xfrm>
            <a:off x="5080000" y="23939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71500" y="25400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amanha-3.jpg · Leandro Neumann Ciuffo</a:t>
            </a:r>
            <a:endParaRPr lang="en-US" sz="1000" dirty="0"/>
          </a:p>
        </p:txBody>
      </p:sp>
      <p:sp>
        <p:nvSpPr>
          <p:cNvPr id="12" name="Text 10">
            <a:hlinkClick r:id="rId5" tooltip=""/>
          </p:cNvPr>
          <p:cNvSpPr/>
          <p:nvPr/>
        </p:nvSpPr>
        <p:spPr>
          <a:xfrm>
            <a:off x="571500" y="27114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 2.0</a:t>
            </a:r>
            <a:endParaRPr lang="en-US" sz="850" dirty="0"/>
          </a:p>
        </p:txBody>
      </p:sp>
      <p:sp>
        <p:nvSpPr>
          <p:cNvPr id="13" name="Text 11">
            <a:hlinkClick r:id="rId6" tooltip=""/>
          </p:cNvPr>
          <p:cNvSpPr/>
          <p:nvPr/>
        </p:nvSpPr>
        <p:spPr>
          <a:xfrm>
            <a:off x="5080000" y="27114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1500" y="28575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amanha-4.jpg · Heloisa Gama</a:t>
            </a:r>
            <a:endParaRPr lang="en-US" sz="1000" dirty="0"/>
          </a:p>
        </p:txBody>
      </p:sp>
      <p:sp>
        <p:nvSpPr>
          <p:cNvPr id="15" name="Text 13">
            <a:hlinkClick r:id="rId7" tooltip=""/>
          </p:cNvPr>
          <p:cNvSpPr/>
          <p:nvPr/>
        </p:nvSpPr>
        <p:spPr>
          <a:xfrm>
            <a:off x="571500" y="30289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BY-SA 4.0</a:t>
            </a:r>
            <a:endParaRPr lang="en-US" sz="850" dirty="0"/>
          </a:p>
        </p:txBody>
      </p:sp>
      <p:sp>
        <p:nvSpPr>
          <p:cNvPr id="16" name="Text 14">
            <a:hlinkClick r:id="rId8" tooltip=""/>
          </p:cNvPr>
          <p:cNvSpPr/>
          <p:nvPr/>
        </p:nvSpPr>
        <p:spPr>
          <a:xfrm>
            <a:off x="5080000" y="30289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71500" y="31750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amanha-5.jpg · Bruno Tamm Rabello</a:t>
            </a:r>
            <a:endParaRPr lang="en-US" sz="1000" dirty="0"/>
          </a:p>
        </p:txBody>
      </p:sp>
      <p:sp>
        <p:nvSpPr>
          <p:cNvPr id="18" name="Text 16">
            <a:hlinkClick r:id="rId9" tooltip=""/>
          </p:cNvPr>
          <p:cNvSpPr/>
          <p:nvPr/>
        </p:nvSpPr>
        <p:spPr>
          <a:xfrm>
            <a:off x="571500" y="33464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BY-SA 4.0</a:t>
            </a:r>
            <a:endParaRPr lang="en-US" sz="850" dirty="0"/>
          </a:p>
        </p:txBody>
      </p:sp>
      <p:sp>
        <p:nvSpPr>
          <p:cNvPr id="19" name="Text 17">
            <a:hlinkClick r:id="rId10" tooltip=""/>
          </p:cNvPr>
          <p:cNvSpPr/>
          <p:nvPr/>
        </p:nvSpPr>
        <p:spPr>
          <a:xfrm>
            <a:off x="5080000" y="33464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71500" y="34925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colombo.jpg · Sailko</a:t>
            </a:r>
            <a:endParaRPr lang="en-US" sz="1000" dirty="0"/>
          </a:p>
        </p:txBody>
      </p:sp>
      <p:sp>
        <p:nvSpPr>
          <p:cNvPr id="21" name="Text 19">
            <a:hlinkClick r:id="rId11" tooltip=""/>
          </p:cNvPr>
          <p:cNvSpPr/>
          <p:nvPr/>
        </p:nvSpPr>
        <p:spPr>
          <a:xfrm>
            <a:off x="571500" y="36639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 3.0</a:t>
            </a:r>
            <a:endParaRPr lang="en-US" sz="850" dirty="0"/>
          </a:p>
        </p:txBody>
      </p:sp>
      <p:sp>
        <p:nvSpPr>
          <p:cNvPr id="22" name="Text 20">
            <a:hlinkClick r:id="rId12" tooltip=""/>
          </p:cNvPr>
          <p:cNvSpPr/>
          <p:nvPr/>
        </p:nvSpPr>
        <p:spPr>
          <a:xfrm>
            <a:off x="5080000" y="36639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71500" y="38100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colombo-2.jpg · Sailko</a:t>
            </a:r>
            <a:endParaRPr lang="en-US" sz="1000" dirty="0"/>
          </a:p>
        </p:txBody>
      </p:sp>
      <p:sp>
        <p:nvSpPr>
          <p:cNvPr id="24" name="Text 22">
            <a:hlinkClick r:id="rId13" tooltip=""/>
          </p:cNvPr>
          <p:cNvSpPr/>
          <p:nvPr/>
        </p:nvSpPr>
        <p:spPr>
          <a:xfrm>
            <a:off x="571500" y="39814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 3.0</a:t>
            </a:r>
            <a:endParaRPr lang="en-US" sz="850" dirty="0"/>
          </a:p>
        </p:txBody>
      </p:sp>
      <p:sp>
        <p:nvSpPr>
          <p:cNvPr id="25" name="Text 23">
            <a:hlinkClick r:id="rId14" tooltip=""/>
          </p:cNvPr>
          <p:cNvSpPr/>
          <p:nvPr/>
        </p:nvSpPr>
        <p:spPr>
          <a:xfrm>
            <a:off x="5080000" y="39814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71500" y="41275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pelourinho.jpg · Paul R. Burley</a:t>
            </a:r>
            <a:endParaRPr lang="en-US" sz="1000" dirty="0"/>
          </a:p>
        </p:txBody>
      </p:sp>
      <p:sp>
        <p:nvSpPr>
          <p:cNvPr id="27" name="Text 25">
            <a:hlinkClick r:id="rId15" tooltip=""/>
          </p:cNvPr>
          <p:cNvSpPr/>
          <p:nvPr/>
        </p:nvSpPr>
        <p:spPr>
          <a:xfrm>
            <a:off x="571500" y="42989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BY-SA 4.0</a:t>
            </a:r>
            <a:endParaRPr lang="en-US" sz="850" dirty="0"/>
          </a:p>
        </p:txBody>
      </p:sp>
      <p:sp>
        <p:nvSpPr>
          <p:cNvPr id="28" name="Text 26">
            <a:hlinkClick r:id="rId16" tooltip=""/>
          </p:cNvPr>
          <p:cNvSpPr/>
          <p:nvPr/>
        </p:nvSpPr>
        <p:spPr>
          <a:xfrm>
            <a:off x="5080000" y="42989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71500" y="44450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pelourinho-2.jpg · Paul R. Burley</a:t>
            </a:r>
            <a:endParaRPr lang="en-US" sz="1000" dirty="0"/>
          </a:p>
        </p:txBody>
      </p:sp>
      <p:sp>
        <p:nvSpPr>
          <p:cNvPr id="30" name="Text 28">
            <a:hlinkClick r:id="rId17" tooltip=""/>
          </p:cNvPr>
          <p:cNvSpPr/>
          <p:nvPr/>
        </p:nvSpPr>
        <p:spPr>
          <a:xfrm>
            <a:off x="571500" y="46164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BY-SA 4.0</a:t>
            </a:r>
            <a:endParaRPr lang="en-US" sz="850" dirty="0"/>
          </a:p>
        </p:txBody>
      </p:sp>
      <p:sp>
        <p:nvSpPr>
          <p:cNvPr id="31" name="Text 29">
            <a:hlinkClick r:id="rId18" tooltip=""/>
          </p:cNvPr>
          <p:cNvSpPr/>
          <p:nvPr/>
        </p:nvSpPr>
        <p:spPr>
          <a:xfrm>
            <a:off x="5080000" y="46164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71500" y="47625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oscar.jpg · Morio</a:t>
            </a:r>
            <a:endParaRPr lang="en-US" sz="1000" dirty="0"/>
          </a:p>
        </p:txBody>
      </p:sp>
      <p:sp>
        <p:nvSpPr>
          <p:cNvPr id="33" name="Text 31">
            <a:hlinkClick r:id="rId19" tooltip=""/>
          </p:cNvPr>
          <p:cNvSpPr/>
          <p:nvPr/>
        </p:nvSpPr>
        <p:spPr>
          <a:xfrm>
            <a:off x="571500" y="49339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BY-SA 3.0</a:t>
            </a:r>
            <a:endParaRPr lang="en-US" sz="850" dirty="0"/>
          </a:p>
        </p:txBody>
      </p:sp>
      <p:sp>
        <p:nvSpPr>
          <p:cNvPr id="34" name="Text 32">
            <a:hlinkClick r:id="rId20" tooltip=""/>
          </p:cNvPr>
          <p:cNvSpPr/>
          <p:nvPr/>
        </p:nvSpPr>
        <p:spPr>
          <a:xfrm>
            <a:off x="5080000" y="49339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71500" y="50800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oscar-2.jpg · Morio</a:t>
            </a:r>
            <a:endParaRPr lang="en-US" sz="1000" dirty="0"/>
          </a:p>
        </p:txBody>
      </p:sp>
      <p:sp>
        <p:nvSpPr>
          <p:cNvPr id="36" name="Text 34">
            <a:hlinkClick r:id="rId21" tooltip=""/>
          </p:cNvPr>
          <p:cNvSpPr/>
          <p:nvPr/>
        </p:nvSpPr>
        <p:spPr>
          <a:xfrm>
            <a:off x="571500" y="52514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2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BY-SA 3.0</a:t>
            </a:r>
            <a:endParaRPr lang="en-US" sz="850" dirty="0"/>
          </a:p>
        </p:txBody>
      </p:sp>
      <p:sp>
        <p:nvSpPr>
          <p:cNvPr id="37" name="Text 35">
            <a:hlinkClick r:id="rId22" tooltip=""/>
          </p:cNvPr>
          <p:cNvSpPr/>
          <p:nvPr/>
        </p:nvSpPr>
        <p:spPr>
          <a:xfrm>
            <a:off x="5080000" y="52514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2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71500" y="53975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lencois.jpg · Esquilo</a:t>
            </a:r>
            <a:endParaRPr lang="en-US" sz="1000" dirty="0"/>
          </a:p>
        </p:txBody>
      </p:sp>
      <p:sp>
        <p:nvSpPr>
          <p:cNvPr id="39" name="Text 37">
            <a:hlinkClick r:id="rId23" tooltip=""/>
          </p:cNvPr>
          <p:cNvSpPr/>
          <p:nvPr/>
        </p:nvSpPr>
        <p:spPr>
          <a:xfrm>
            <a:off x="571500" y="55689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2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BY-SA 3.0</a:t>
            </a:r>
            <a:endParaRPr lang="en-US" sz="850" dirty="0"/>
          </a:p>
        </p:txBody>
      </p:sp>
      <p:sp>
        <p:nvSpPr>
          <p:cNvPr id="40" name="Text 38">
            <a:hlinkClick r:id="rId24" tooltip=""/>
          </p:cNvPr>
          <p:cNvSpPr/>
          <p:nvPr/>
        </p:nvSpPr>
        <p:spPr>
          <a:xfrm>
            <a:off x="5080000" y="55689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2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71500" y="57150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lencois-2.jpg · Julius Dadalti</a:t>
            </a:r>
            <a:endParaRPr lang="en-US" sz="1000" dirty="0"/>
          </a:p>
        </p:txBody>
      </p:sp>
      <p:sp>
        <p:nvSpPr>
          <p:cNvPr id="42" name="Text 40">
            <a:hlinkClick r:id="rId25" tooltip=""/>
          </p:cNvPr>
          <p:cNvSpPr/>
          <p:nvPr/>
        </p:nvSpPr>
        <p:spPr>
          <a:xfrm>
            <a:off x="571500" y="58864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2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BY-SA 4.0</a:t>
            </a:r>
            <a:endParaRPr lang="en-US" sz="850" dirty="0"/>
          </a:p>
        </p:txBody>
      </p:sp>
      <p:sp>
        <p:nvSpPr>
          <p:cNvPr id="43" name="Text 41">
            <a:hlinkClick r:id="rId26" tooltip=""/>
          </p:cNvPr>
          <p:cNvSpPr/>
          <p:nvPr/>
        </p:nvSpPr>
        <p:spPr>
          <a:xfrm>
            <a:off x="5080000" y="58864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2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71500" y="60325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santa-barbara.jpg · Rivamorgan</a:t>
            </a:r>
            <a:endParaRPr lang="en-US" sz="1000" dirty="0"/>
          </a:p>
        </p:txBody>
      </p:sp>
      <p:sp>
        <p:nvSpPr>
          <p:cNvPr id="45" name="Text 43">
            <a:hlinkClick r:id="rId27" tooltip=""/>
          </p:cNvPr>
          <p:cNvSpPr/>
          <p:nvPr/>
        </p:nvSpPr>
        <p:spPr>
          <a:xfrm>
            <a:off x="571500" y="62039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2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BY-SA 4.0</a:t>
            </a:r>
            <a:endParaRPr lang="en-US" sz="850" dirty="0"/>
          </a:p>
        </p:txBody>
      </p:sp>
      <p:sp>
        <p:nvSpPr>
          <p:cNvPr id="46" name="Text 44">
            <a:hlinkClick r:id="rId28" tooltip=""/>
          </p:cNvPr>
          <p:cNvSpPr/>
          <p:nvPr/>
        </p:nvSpPr>
        <p:spPr>
          <a:xfrm>
            <a:off x="5080000" y="62039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2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286500" y="19050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santa-barbara-2.jpg · Adelano Lázaro</a:t>
            </a:r>
            <a:endParaRPr lang="en-US" sz="1000" dirty="0"/>
          </a:p>
        </p:txBody>
      </p:sp>
      <p:sp>
        <p:nvSpPr>
          <p:cNvPr id="48" name="Text 46">
            <a:hlinkClick r:id="rId29" tooltip=""/>
          </p:cNvPr>
          <p:cNvSpPr/>
          <p:nvPr/>
        </p:nvSpPr>
        <p:spPr>
          <a:xfrm>
            <a:off x="6286500" y="20764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2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BY-SA 4.0</a:t>
            </a:r>
            <a:endParaRPr lang="en-US" sz="850" dirty="0"/>
          </a:p>
        </p:txBody>
      </p:sp>
      <p:sp>
        <p:nvSpPr>
          <p:cNvPr id="49" name="Text 47">
            <a:hlinkClick r:id="rId30" tooltip=""/>
          </p:cNvPr>
          <p:cNvSpPr/>
          <p:nvPr/>
        </p:nvSpPr>
        <p:spPr>
          <a:xfrm>
            <a:off x="10795000" y="20764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3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286500" y="22225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pedra-bonita.jpg · KarlaFPaiva</a:t>
            </a:r>
            <a:endParaRPr lang="en-US" sz="1000" dirty="0"/>
          </a:p>
        </p:txBody>
      </p:sp>
      <p:sp>
        <p:nvSpPr>
          <p:cNvPr id="51" name="Text 49">
            <a:hlinkClick r:id="rId31" tooltip=""/>
          </p:cNvPr>
          <p:cNvSpPr/>
          <p:nvPr/>
        </p:nvSpPr>
        <p:spPr>
          <a:xfrm>
            <a:off x="6286500" y="23939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3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BY-SA 3.0</a:t>
            </a:r>
            <a:endParaRPr lang="en-US" sz="850" dirty="0"/>
          </a:p>
        </p:txBody>
      </p:sp>
      <p:sp>
        <p:nvSpPr>
          <p:cNvPr id="52" name="Text 50">
            <a:hlinkClick r:id="rId32" tooltip=""/>
          </p:cNvPr>
          <p:cNvSpPr/>
          <p:nvPr/>
        </p:nvSpPr>
        <p:spPr>
          <a:xfrm>
            <a:off x="10795000" y="23939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3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286500" y="25400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pedra-bonita-2.jpg · Avelludo</a:t>
            </a:r>
            <a:endParaRPr lang="en-US" sz="1000" dirty="0"/>
          </a:p>
        </p:txBody>
      </p:sp>
      <p:sp>
        <p:nvSpPr>
          <p:cNvPr id="54" name="Text 52">
            <a:hlinkClick r:id="rId33" tooltip=""/>
          </p:cNvPr>
          <p:cNvSpPr/>
          <p:nvPr/>
        </p:nvSpPr>
        <p:spPr>
          <a:xfrm>
            <a:off x="6286500" y="27114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3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BY-SA 4.0</a:t>
            </a:r>
            <a:endParaRPr lang="en-US" sz="850" dirty="0"/>
          </a:p>
        </p:txBody>
      </p:sp>
      <p:sp>
        <p:nvSpPr>
          <p:cNvPr id="55" name="Text 53">
            <a:hlinkClick r:id="rId34" tooltip=""/>
          </p:cNvPr>
          <p:cNvSpPr/>
          <p:nvPr/>
        </p:nvSpPr>
        <p:spPr>
          <a:xfrm>
            <a:off x="10795000" y="27114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3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286500" y="28575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iguacu.jpg · Marcelo Calvet</a:t>
            </a:r>
            <a:endParaRPr lang="en-US" sz="1000" dirty="0"/>
          </a:p>
        </p:txBody>
      </p:sp>
      <p:sp>
        <p:nvSpPr>
          <p:cNvPr id="57" name="Text 55">
            <a:hlinkClick r:id="rId35" tooltip=""/>
          </p:cNvPr>
          <p:cNvSpPr/>
          <p:nvPr/>
        </p:nvSpPr>
        <p:spPr>
          <a:xfrm>
            <a:off x="6286500" y="30289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3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BY-SA 3.0</a:t>
            </a:r>
            <a:endParaRPr lang="en-US" sz="850" dirty="0"/>
          </a:p>
        </p:txBody>
      </p:sp>
      <p:sp>
        <p:nvSpPr>
          <p:cNvPr id="58" name="Text 56">
            <a:hlinkClick r:id="rId36" tooltip=""/>
          </p:cNvPr>
          <p:cNvSpPr/>
          <p:nvPr/>
        </p:nvSpPr>
        <p:spPr>
          <a:xfrm>
            <a:off x="10795000" y="30289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3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286500" y="31750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iguacu-2.jpg · Mayra Villas Boas Francisco Zamulko</a:t>
            </a:r>
            <a:endParaRPr lang="en-US" sz="1000" dirty="0"/>
          </a:p>
        </p:txBody>
      </p:sp>
      <p:sp>
        <p:nvSpPr>
          <p:cNvPr id="60" name="Text 58">
            <a:hlinkClick r:id="rId37" tooltip=""/>
          </p:cNvPr>
          <p:cNvSpPr/>
          <p:nvPr/>
        </p:nvSpPr>
        <p:spPr>
          <a:xfrm>
            <a:off x="6286500" y="33464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3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BY-SA 4.0</a:t>
            </a:r>
            <a:endParaRPr lang="en-US" sz="850" dirty="0"/>
          </a:p>
        </p:txBody>
      </p:sp>
      <p:sp>
        <p:nvSpPr>
          <p:cNvPr id="61" name="Text 59">
            <a:hlinkClick r:id="rId38" tooltip=""/>
          </p:cNvPr>
          <p:cNvSpPr/>
          <p:nvPr/>
        </p:nvSpPr>
        <p:spPr>
          <a:xfrm>
            <a:off x="10795000" y="33464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3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286500" y="34925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sancho.jpg · Nayara Felipe</a:t>
            </a:r>
            <a:endParaRPr lang="en-US" sz="1000" dirty="0"/>
          </a:p>
        </p:txBody>
      </p:sp>
      <p:sp>
        <p:nvSpPr>
          <p:cNvPr id="63" name="Text 61">
            <a:hlinkClick r:id="rId39" tooltip=""/>
          </p:cNvPr>
          <p:cNvSpPr/>
          <p:nvPr/>
        </p:nvSpPr>
        <p:spPr>
          <a:xfrm>
            <a:off x="6286500" y="36639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3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BY-SA 3.0</a:t>
            </a:r>
            <a:endParaRPr lang="en-US" sz="850" dirty="0"/>
          </a:p>
        </p:txBody>
      </p:sp>
      <p:sp>
        <p:nvSpPr>
          <p:cNvPr id="64" name="Text 62">
            <a:hlinkClick r:id="rId40" tooltip=""/>
          </p:cNvPr>
          <p:cNvSpPr/>
          <p:nvPr/>
        </p:nvSpPr>
        <p:spPr>
          <a:xfrm>
            <a:off x="10795000" y="36639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4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286500" y="38100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sancho-2.jpg · Taciana Cássia Da Silva</a:t>
            </a:r>
            <a:endParaRPr lang="en-US" sz="1000" dirty="0"/>
          </a:p>
        </p:txBody>
      </p:sp>
      <p:sp>
        <p:nvSpPr>
          <p:cNvPr id="66" name="Text 64">
            <a:hlinkClick r:id="rId41" tooltip=""/>
          </p:cNvPr>
          <p:cNvSpPr/>
          <p:nvPr/>
        </p:nvSpPr>
        <p:spPr>
          <a:xfrm>
            <a:off x="6286500" y="39814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4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BY-SA 4.0</a:t>
            </a:r>
            <a:endParaRPr lang="en-US" sz="850" dirty="0"/>
          </a:p>
        </p:txBody>
      </p:sp>
      <p:sp>
        <p:nvSpPr>
          <p:cNvPr id="67" name="Text 65">
            <a:hlinkClick r:id="rId42" tooltip=""/>
          </p:cNvPr>
          <p:cNvSpPr/>
          <p:nvPr/>
        </p:nvSpPr>
        <p:spPr>
          <a:xfrm>
            <a:off x="10795000" y="39814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4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286500" y="41275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ibirapuera.jpg · Allice Hunter</a:t>
            </a:r>
            <a:endParaRPr lang="en-US" sz="1000" dirty="0"/>
          </a:p>
        </p:txBody>
      </p:sp>
      <p:sp>
        <p:nvSpPr>
          <p:cNvPr id="69" name="Text 67">
            <a:hlinkClick r:id="rId43" tooltip=""/>
          </p:cNvPr>
          <p:cNvSpPr/>
          <p:nvPr/>
        </p:nvSpPr>
        <p:spPr>
          <a:xfrm>
            <a:off x="6286500" y="42989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4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BY-SA 4.0</a:t>
            </a:r>
            <a:endParaRPr lang="en-US" sz="850" dirty="0"/>
          </a:p>
        </p:txBody>
      </p:sp>
      <p:sp>
        <p:nvSpPr>
          <p:cNvPr id="70" name="Text 68">
            <a:hlinkClick r:id="rId44" tooltip=""/>
          </p:cNvPr>
          <p:cNvSpPr/>
          <p:nvPr/>
        </p:nvSpPr>
        <p:spPr>
          <a:xfrm>
            <a:off x="10795000" y="42989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4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286500" y="44450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ibirapuera-2.jpg · Paul R. Burley</a:t>
            </a:r>
            <a:endParaRPr lang="en-US" sz="1000" dirty="0"/>
          </a:p>
        </p:txBody>
      </p:sp>
      <p:sp>
        <p:nvSpPr>
          <p:cNvPr id="72" name="Text 70">
            <a:hlinkClick r:id="rId45" tooltip=""/>
          </p:cNvPr>
          <p:cNvSpPr/>
          <p:nvPr/>
        </p:nvSpPr>
        <p:spPr>
          <a:xfrm>
            <a:off x="6286500" y="46164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4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BY-SA 4.0</a:t>
            </a:r>
            <a:endParaRPr lang="en-US" sz="850" dirty="0"/>
          </a:p>
        </p:txBody>
      </p:sp>
      <p:sp>
        <p:nvSpPr>
          <p:cNvPr id="73" name="Text 71">
            <a:hlinkClick r:id="rId46" tooltip=""/>
          </p:cNvPr>
          <p:cNvSpPr/>
          <p:nvPr/>
        </p:nvSpPr>
        <p:spPr>
          <a:xfrm>
            <a:off x="10795000" y="46164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4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286500" y="47625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amazonas.jpg · Ridiculopathy</a:t>
            </a:r>
            <a:endParaRPr lang="en-US" sz="1000" dirty="0"/>
          </a:p>
        </p:txBody>
      </p:sp>
      <p:sp>
        <p:nvSpPr>
          <p:cNvPr id="75" name="Text 73">
            <a:hlinkClick r:id="rId47" tooltip=""/>
          </p:cNvPr>
          <p:cNvSpPr/>
          <p:nvPr/>
        </p:nvSpPr>
        <p:spPr>
          <a:xfrm>
            <a:off x="6286500" y="49339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4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CC0</a:t>
            </a:r>
            <a:endParaRPr lang="en-US" sz="850" dirty="0"/>
          </a:p>
        </p:txBody>
      </p:sp>
      <p:sp>
        <p:nvSpPr>
          <p:cNvPr id="76" name="Text 74">
            <a:hlinkClick r:id="rId48" tooltip=""/>
          </p:cNvPr>
          <p:cNvSpPr/>
          <p:nvPr/>
        </p:nvSpPr>
        <p:spPr>
          <a:xfrm>
            <a:off x="10795000" y="49339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4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286500" y="50800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amazonas-2.jpg · Ridiculopathy</a:t>
            </a:r>
            <a:endParaRPr lang="en-US" sz="1000" dirty="0"/>
          </a:p>
        </p:txBody>
      </p:sp>
      <p:sp>
        <p:nvSpPr>
          <p:cNvPr id="78" name="Text 76">
            <a:hlinkClick r:id="rId49" tooltip=""/>
          </p:cNvPr>
          <p:cNvSpPr/>
          <p:nvPr/>
        </p:nvSpPr>
        <p:spPr>
          <a:xfrm>
            <a:off x="6286500" y="52514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4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CC0</a:t>
            </a:r>
            <a:endParaRPr lang="en-US" sz="850" dirty="0"/>
          </a:p>
        </p:txBody>
      </p:sp>
      <p:sp>
        <p:nvSpPr>
          <p:cNvPr id="79" name="Text 77">
            <a:hlinkClick r:id="rId50" tooltip=""/>
          </p:cNvPr>
          <p:cNvSpPr/>
          <p:nvPr/>
        </p:nvSpPr>
        <p:spPr>
          <a:xfrm>
            <a:off x="10795000" y="52514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5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6286500" y="53975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girondino.jpg · Núcleo Editorial</a:t>
            </a:r>
            <a:endParaRPr lang="en-US" sz="1000" dirty="0"/>
          </a:p>
        </p:txBody>
      </p:sp>
      <p:sp>
        <p:nvSpPr>
          <p:cNvPr id="81" name="Text 79">
            <a:hlinkClick r:id="rId51" tooltip=""/>
          </p:cNvPr>
          <p:cNvSpPr/>
          <p:nvPr/>
        </p:nvSpPr>
        <p:spPr>
          <a:xfrm>
            <a:off x="6286500" y="55689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5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 2.0</a:t>
            </a:r>
            <a:endParaRPr lang="en-US" sz="850" dirty="0"/>
          </a:p>
        </p:txBody>
      </p:sp>
      <p:sp>
        <p:nvSpPr>
          <p:cNvPr id="82" name="Text 80">
            <a:hlinkClick r:id="rId52" tooltip=""/>
          </p:cNvPr>
          <p:cNvSpPr/>
          <p:nvPr/>
        </p:nvSpPr>
        <p:spPr>
          <a:xfrm>
            <a:off x="10795000" y="55689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5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6286500" y="57150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copan.jpg · Rodrigo Soldon from Rio de Janeiro, Brazil</a:t>
            </a:r>
            <a:endParaRPr lang="en-US" sz="1000" dirty="0"/>
          </a:p>
        </p:txBody>
      </p:sp>
      <p:sp>
        <p:nvSpPr>
          <p:cNvPr id="84" name="Text 82">
            <a:hlinkClick r:id="rId53" tooltip=""/>
          </p:cNvPr>
          <p:cNvSpPr/>
          <p:nvPr/>
        </p:nvSpPr>
        <p:spPr>
          <a:xfrm>
            <a:off x="6286500" y="5886450"/>
            <a:ext cx="4191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5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 · CC BY 2.0</a:t>
            </a:r>
            <a:endParaRPr lang="en-US" sz="850" dirty="0"/>
          </a:p>
        </p:txBody>
      </p:sp>
      <p:sp>
        <p:nvSpPr>
          <p:cNvPr id="85" name="Text 83">
            <a:hlinkClick r:id="rId54" tooltip=""/>
          </p:cNvPr>
          <p:cNvSpPr/>
          <p:nvPr/>
        </p:nvSpPr>
        <p:spPr>
          <a:xfrm>
            <a:off x="10795000" y="5886450"/>
            <a:ext cx="7620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123B4A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5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Licença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71500" y="6559550"/>
            <a:ext cx="1085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Tipografia: Manrope (SIL OFL). Ícones das interfaces: Lucide (ISC). Logo fornecida, sem redesenho.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Passaporte Local · Editorial</dc:title>
  <dc:subject>PptxGenJS Presentation</dc:subject>
  <dc:creator>Artur</dc:creator>
  <cp:lastModifiedBy>Artur</cp:lastModifiedBy>
  <cp:revision>1</cp:revision>
  <dcterms:created xsi:type="dcterms:W3CDTF">2026-10-18T18:49:32Z</dcterms:created>
  <dcterms:modified xsi:type="dcterms:W3CDTF">2026-10-18T18:49:32Z</dcterms:modified>
</cp:coreProperties>
</file>